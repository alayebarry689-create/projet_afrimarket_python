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508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051560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889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ANALYSE STRATÉGIQUE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E8C468"/>
                </a:solidFill>
                <a:latin typeface="Calibri"/>
              </a:rPr>
              <a:t>de la Performance E-commerce AfriMarket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Juillet – Décembre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C9C9D6"/>
                </a:solidFill>
                <a:latin typeface="Calibri"/>
              </a:rPr>
              <a:t>Présenté au Comité de Direction  |  Data Analyst, AfriMarket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pic>
        <p:nvPicPr>
          <p:cNvPr id="5" name="Picture 4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18872"/>
            <a:ext cx="713232" cy="7132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457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7160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52A4A"/>
                </a:solidFill>
                <a:latin typeface="Calibri"/>
              </a:rPr>
              <a:t>Contexte &amp; enjeux business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29968"/>
            <a:ext cx="457200" cy="4572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48256"/>
            <a:ext cx="457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29968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52A4A"/>
                </a:solidFill>
                <a:latin typeface="Calibri"/>
              </a:rPr>
              <a:t>Méthodologie : de la donnée brute à l'analyse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88336"/>
            <a:ext cx="457200" cy="4572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06624"/>
            <a:ext cx="457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88336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52A4A"/>
                </a:solidFill>
                <a:latin typeface="Calibri"/>
              </a:rPr>
              <a:t>Performance globale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46704"/>
            <a:ext cx="457200" cy="4572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64992"/>
            <a:ext cx="457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46704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52A4A"/>
                </a:solidFill>
                <a:latin typeface="Calibri"/>
              </a:rPr>
              <a:t>Analyse par catégorie, géographie, marketing, clients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05072"/>
            <a:ext cx="457200" cy="4572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457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05072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52A4A"/>
                </a:solidFill>
                <a:latin typeface="Calibri"/>
              </a:rPr>
              <a:t>Simulation financière — impact chiffré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81728"/>
            <a:ext cx="457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66344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52A4A"/>
                </a:solidFill>
                <a:latin typeface="Calibri"/>
              </a:rPr>
              <a:t>5 recommandations stratégiques priorisées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21808"/>
            <a:ext cx="457200" cy="4572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40096"/>
            <a:ext cx="457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21808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52A4A"/>
                </a:solidFill>
                <a:latin typeface="Calibri"/>
              </a:rPr>
              <a:t>Feuille de route à 90 jours &amp; 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C468"/>
                </a:solidFill>
                <a:latin typeface="Calibri"/>
              </a:rPr>
              <a:t>01 · 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Contexte &amp; enjeux business</a:t>
            </a:r>
          </a:p>
        </p:txBody>
      </p: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18872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34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A5A5A"/>
                </a:solidFill>
                <a:latin typeface="Calibri"/>
              </a:rPr>
              <a:t>AfriMarket — e-commerce panafricain, 4 catégories, 8 villes, 6 mois de données analysées.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C9971C"/>
                </a:solidFill>
              </a:rPr>
              <a:t>●  </a:t>
            </a:r>
            <a:r>
              <a:rPr sz="1600" b="1">
                <a:solidFill>
                  <a:srgbClr val="152A4A"/>
                </a:solidFill>
              </a:rPr>
              <a:t>Constat 1 — </a:t>
            </a:r>
            <a:r>
              <a:rPr sz="1600">
                <a:solidFill>
                  <a:srgbClr val="333333"/>
                </a:solidFill>
              </a:rPr>
              <a:t>des variations importantes du chiffre d'affaires selon les mois et les villes.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C9971C"/>
                </a:solidFill>
              </a:rPr>
              <a:t>●  </a:t>
            </a:r>
            <a:r>
              <a:rPr sz="1600" b="1">
                <a:solidFill>
                  <a:srgbClr val="152A4A"/>
                </a:solidFill>
              </a:rPr>
              <a:t>Constat 2 — </a:t>
            </a:r>
            <a:r>
              <a:rPr sz="1600">
                <a:solidFill>
                  <a:srgbClr val="333333"/>
                </a:solidFill>
              </a:rPr>
              <a:t>un taux de retour préoccupant sur certains produits, en particulier l'Électronique.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C9971C"/>
                </a:solidFill>
              </a:rPr>
              <a:t>●  </a:t>
            </a:r>
            <a:r>
              <a:rPr sz="1600" b="1">
                <a:solidFill>
                  <a:srgbClr val="152A4A"/>
                </a:solidFill>
              </a:rPr>
              <a:t>Constat 3 — </a:t>
            </a:r>
            <a:r>
              <a:rPr sz="1600">
                <a:solidFill>
                  <a:srgbClr val="333333"/>
                </a:solidFill>
              </a:rPr>
              <a:t>des dépenses marketing élevées, sans visibilité claire sur leur rentabilité réelle par canal.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C9971C"/>
                </a:solidFill>
              </a:rPr>
              <a:t>●  </a:t>
            </a:r>
            <a:r>
              <a:rPr sz="1600" b="1">
                <a:solidFill>
                  <a:srgbClr val="152A4A"/>
                </a:solidFill>
              </a:rPr>
              <a:t>Constat 4 — </a:t>
            </a:r>
            <a:r>
              <a:rPr sz="1600">
                <a:solidFill>
                  <a:srgbClr val="333333"/>
                </a:solidFill>
              </a:rPr>
              <a:t>des différences de performance marquées selon les villes, non expliquées à ce jour.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52A4A"/>
                </a:solidFill>
                <a:latin typeface="Calibri"/>
              </a:rPr>
              <a:t>Objectif de ce rapport : transformer ces constats en décisions business chiffrées, priorisées et actionnables.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C468"/>
                </a:solidFill>
                <a:latin typeface="Calibri"/>
              </a:rPr>
              <a:t>02 · DÉMARCHE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Méthodologie : de la donnée brute à la décision</a:t>
            </a:r>
          </a:p>
        </p:txBody>
      </p: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18872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8883" y="1920240"/>
            <a:ext cx="1965960" cy="173736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8883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8C46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035" y="2377440"/>
            <a:ext cx="18196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Audit qualité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035" y="3063240"/>
            <a:ext cx="18196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8E2"/>
                </a:solidFill>
                <a:latin typeface="Calibri"/>
              </a:rPr>
              <a:t>10 100 lignes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8E2"/>
                </a:solidFill>
                <a:latin typeface="Calibri"/>
              </a:rPr>
              <a:t>auditées</a:t>
            </a:r>
          </a:p>
        </p:txBody>
      </p:sp>
      <p:sp>
        <p:nvSpPr>
          <p:cNvPr id="11" name="Chevron 10"/>
          <p:cNvSpPr/>
          <p:nvPr/>
        </p:nvSpPr>
        <p:spPr>
          <a:xfrm>
            <a:off x="2660243" y="2606040"/>
            <a:ext cx="205232" cy="365760"/>
          </a:xfrm>
          <a:prstGeom prst="chevron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90875" y="1920240"/>
            <a:ext cx="1965960" cy="1737360"/>
          </a:xfrm>
          <a:prstGeom prst="rect">
            <a:avLst/>
          </a:prstGeom>
          <a:solidFill>
            <a:srgbClr val="1F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0875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8C468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4027" y="2377440"/>
            <a:ext cx="18196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Data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4027" y="3063240"/>
            <a:ext cx="18196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8E2"/>
                </a:solidFill>
                <a:latin typeface="Calibri"/>
              </a:rPr>
              <a:t>9 400 lignes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8E2"/>
                </a:solidFill>
                <a:latin typeface="Calibri"/>
              </a:rPr>
              <a:t>fiables (93%)</a:t>
            </a:r>
          </a:p>
        </p:txBody>
      </p:sp>
      <p:sp>
        <p:nvSpPr>
          <p:cNvPr id="16" name="Chevron 15"/>
          <p:cNvSpPr/>
          <p:nvPr/>
        </p:nvSpPr>
        <p:spPr>
          <a:xfrm>
            <a:off x="4882235" y="2606040"/>
            <a:ext cx="205232" cy="365760"/>
          </a:xfrm>
          <a:prstGeom prst="chevron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12867" y="1920240"/>
            <a:ext cx="1965960" cy="173736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2867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8C46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6019" y="2377440"/>
            <a:ext cx="18196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Feature</a:t>
            </a:r>
          </a:p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6019" y="3063240"/>
            <a:ext cx="18196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8E2"/>
                </a:solidFill>
                <a:latin typeface="Calibri"/>
              </a:rPr>
              <a:t>7 indicateurs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8E2"/>
                </a:solidFill>
                <a:latin typeface="Calibri"/>
              </a:rPr>
              <a:t>clés créés</a:t>
            </a:r>
          </a:p>
        </p:txBody>
      </p:sp>
      <p:sp>
        <p:nvSpPr>
          <p:cNvPr id="21" name="Chevron 20"/>
          <p:cNvSpPr/>
          <p:nvPr/>
        </p:nvSpPr>
        <p:spPr>
          <a:xfrm>
            <a:off x="7104227" y="2606040"/>
            <a:ext cx="205232" cy="365760"/>
          </a:xfrm>
          <a:prstGeom prst="chevron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4859" y="1920240"/>
            <a:ext cx="1965960" cy="1737360"/>
          </a:xfrm>
          <a:prstGeom prst="rect">
            <a:avLst/>
          </a:prstGeom>
          <a:solidFill>
            <a:srgbClr val="1F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4859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8C468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8011" y="2377440"/>
            <a:ext cx="18196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5 Analyses</a:t>
            </a:r>
          </a:p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8011" y="3063240"/>
            <a:ext cx="18196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8E2"/>
                </a:solidFill>
                <a:latin typeface="Calibri"/>
              </a:rPr>
              <a:t>Catégorie, ville,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8E2"/>
                </a:solidFill>
                <a:latin typeface="Calibri"/>
              </a:rPr>
              <a:t>marketing, clients</a:t>
            </a:r>
          </a:p>
        </p:txBody>
      </p:sp>
      <p:sp>
        <p:nvSpPr>
          <p:cNvPr id="26" name="Chevron 25"/>
          <p:cNvSpPr/>
          <p:nvPr/>
        </p:nvSpPr>
        <p:spPr>
          <a:xfrm>
            <a:off x="9326219" y="2606040"/>
            <a:ext cx="205232" cy="365760"/>
          </a:xfrm>
          <a:prstGeom prst="chevron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6851" y="1920240"/>
            <a:ext cx="1965960" cy="173736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6851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8C468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0003" y="2377440"/>
            <a:ext cx="18196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Simulation</a:t>
            </a:r>
          </a:p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financière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003" y="3063240"/>
            <a:ext cx="18196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8E2"/>
                </a:solidFill>
                <a:latin typeface="Calibri"/>
              </a:rPr>
              <a:t>+10,4% de profit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8E2"/>
                </a:solidFill>
                <a:latin typeface="Calibri"/>
              </a:rPr>
              <a:t>net potentiel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A4A"/>
                </a:solidFill>
                <a:latin typeface="Calibri"/>
              </a:rPr>
              <a:t>Principal constat d'audit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2628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Le label « electronique » (minuscule) ne désignait pas une variante orthographique d'« Électronique » : il recouvrait en réalité des produits des 4 catégories (confirmé par le nom du produit). La catégorie a donc été reconstruite à partir d'une source plus fiable — un contrôle qu'une simple normalisation de texte n'aurait pas détecté.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C468"/>
                </a:solidFill>
                <a:latin typeface="Calibri"/>
              </a:rPr>
              <a:t>03 · 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Performance globale</a:t>
            </a:r>
          </a:p>
        </p:txBody>
      </p: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18872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57987" y="164592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7987" y="1645920"/>
            <a:ext cx="50800" cy="13716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987" y="1737360"/>
            <a:ext cx="189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Calibri"/>
              </a:rPr>
              <a:t>CHIFFRE D'AFFAIRES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987" y="2029968"/>
            <a:ext cx="1894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52A4A"/>
                </a:solidFill>
                <a:latin typeface="Calibri"/>
              </a:rPr>
              <a:t>2 385 987 €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9707" y="164592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89707" y="1645920"/>
            <a:ext cx="50800" cy="13716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707" y="1737360"/>
            <a:ext cx="189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Calibri"/>
              </a:rPr>
              <a:t>PROFIT NET ESTIMÉ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707" y="2029968"/>
            <a:ext cx="1894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52A4A"/>
                </a:solidFill>
                <a:latin typeface="Calibri"/>
              </a:rPr>
              <a:t>380 448 €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1427" y="164592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1427" y="1645920"/>
            <a:ext cx="50800" cy="13716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427" y="1737360"/>
            <a:ext cx="189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Calibri"/>
              </a:rPr>
              <a:t>PANIER MOYEN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427" y="2029968"/>
            <a:ext cx="1894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52A4A"/>
                </a:solidFill>
                <a:latin typeface="Calibri"/>
              </a:rPr>
              <a:t>258,87 €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3147" y="164592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53147" y="1645920"/>
            <a:ext cx="50800" cy="13716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0147" y="1737360"/>
            <a:ext cx="189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Calibri"/>
              </a:rPr>
              <a:t>TAUX D'ANNULATION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0147" y="2029968"/>
            <a:ext cx="1894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52A4A"/>
                </a:solidFill>
                <a:latin typeface="Calibri"/>
              </a:rPr>
              <a:t>1,9 %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84867" y="164592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84867" y="1645920"/>
            <a:ext cx="50800" cy="13716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867" y="1737360"/>
            <a:ext cx="189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Calibri"/>
              </a:rPr>
              <a:t>TAUX DE RETOUR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867" y="2029968"/>
            <a:ext cx="1894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52A4A"/>
                </a:solidFill>
                <a:latin typeface="Calibri"/>
              </a:rPr>
              <a:t>8,1 %</a:t>
            </a:r>
          </a:p>
        </p:txBody>
      </p:sp>
      <p:pic>
        <p:nvPicPr>
          <p:cNvPr id="27" name="Picture 26" descr="01_performance_glob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120" y="3383280"/>
            <a:ext cx="8717280" cy="301751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C468"/>
                </a:solidFill>
                <a:latin typeface="Calibri"/>
              </a:rPr>
              <a:t>04 · ANALYSE PRODUIT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Quelle catégorie prioriser ?</a:t>
            </a:r>
          </a:p>
        </p:txBody>
      </p: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18872"/>
            <a:ext cx="713232" cy="713232"/>
          </a:xfrm>
          <a:prstGeom prst="rect">
            <a:avLst/>
          </a:prstGeom>
        </p:spPr>
      </p:pic>
      <p:pic>
        <p:nvPicPr>
          <p:cNvPr id="7" name="Picture 6" descr="02_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50869"/>
            <a:ext cx="6949440" cy="24819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2801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52A4A"/>
                </a:solidFill>
                <a:latin typeface="Calibri"/>
              </a:rPr>
              <a:t>Électronique = 72% du 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73736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50" b="1">
                <a:solidFill>
                  <a:srgbClr val="C9971C"/>
                </a:solidFill>
              </a:rPr>
              <a:t>●  </a:t>
            </a:r>
            <a:r>
              <a:rPr sz="1350" b="1">
                <a:solidFill>
                  <a:srgbClr val="152A4A"/>
                </a:solidFill>
              </a:rPr>
              <a:t>Électronique — </a:t>
            </a:r>
            <a:r>
              <a:rPr sz="1350">
                <a:solidFill>
                  <a:srgbClr val="333333"/>
                </a:solidFill>
              </a:rPr>
              <a:t>72% du CA et 59% du profit net : le moteur de croissance de l'entreprise.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C9971C"/>
                </a:solidFill>
              </a:rPr>
              <a:t>●  </a:t>
            </a:r>
            <a:r>
              <a:rPr sz="1350">
                <a:solidFill>
                  <a:srgbClr val="333333"/>
                </a:solidFill>
              </a:rPr>
              <a:t>15,3% de retour, près du double des autres catégories — priorité n°1.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C9971C"/>
                </a:solidFill>
              </a:rPr>
              <a:t>●  </a:t>
            </a:r>
            <a:r>
              <a:rPr sz="1350" b="1">
                <a:solidFill>
                  <a:srgbClr val="152A4A"/>
                </a:solidFill>
              </a:rPr>
              <a:t>Mode — </a:t>
            </a:r>
            <a:r>
              <a:rPr sz="1350">
                <a:solidFill>
                  <a:srgbClr val="333333"/>
                </a:solidFill>
              </a:rPr>
              <a:t>Marge élevée (45%), retour maîtrisé (7,3%) : meilleur couple rendement/risque.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C9971C"/>
                </a:solidFill>
              </a:rPr>
              <a:t>●  </a:t>
            </a:r>
            <a:r>
              <a:rPr sz="1350" b="1">
                <a:solidFill>
                  <a:srgbClr val="152A4A"/>
                </a:solidFill>
              </a:rPr>
              <a:t>Beauté — </a:t>
            </a:r>
            <a:r>
              <a:rPr sz="1350">
                <a:solidFill>
                  <a:srgbClr val="333333"/>
                </a:solidFill>
              </a:rPr>
              <a:t>Plus petite en valeur, mais la plus saine (2,8% de retour).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C468"/>
                </a:solidFill>
                <a:latin typeface="Calibri"/>
              </a:rPr>
              <a:t>05 · ANALYSE GÉOGRAPHIQUE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Où investir davantage ?</a:t>
            </a:r>
          </a:p>
        </p:txBody>
      </p: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18872"/>
            <a:ext cx="713232" cy="713232"/>
          </a:xfrm>
          <a:prstGeom prst="rect">
            <a:avLst/>
          </a:prstGeom>
        </p:spPr>
      </p:pic>
      <p:pic>
        <p:nvPicPr>
          <p:cNvPr id="7" name="Picture 6" descr="04_geograph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50869"/>
            <a:ext cx="6949440" cy="24819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 b="1">
                <a:solidFill>
                  <a:srgbClr val="C9971C"/>
                </a:solidFill>
              </a:rPr>
              <a:t>●  </a:t>
            </a:r>
            <a:r>
              <a:rPr sz="1350" b="1">
                <a:solidFill>
                  <a:srgbClr val="152A4A"/>
                </a:solidFill>
              </a:rPr>
              <a:t>Marchés matures — </a:t>
            </a:r>
            <a:r>
              <a:rPr sz="1350">
                <a:solidFill>
                  <a:srgbClr val="333333"/>
                </a:solidFill>
              </a:rPr>
              <a:t>Kinshasa + Abidjan = 50% du CA et du profit : marchés à consolider en priorité.</a:t>
            </a:r>
          </a:p>
          <a:p>
            <a:pPr>
              <a:spcAft>
                <a:spcPts val="1600"/>
              </a:spcAft>
            </a:pPr>
            <a:r>
              <a:rPr sz="1350" b="1">
                <a:solidFill>
                  <a:srgbClr val="C9971C"/>
                </a:solidFill>
              </a:rPr>
              <a:t>●  </a:t>
            </a:r>
            <a:r>
              <a:rPr sz="1350" b="1">
                <a:solidFill>
                  <a:srgbClr val="152A4A"/>
                </a:solidFill>
              </a:rPr>
              <a:t>Alerte Douala — </a:t>
            </a:r>
            <a:r>
              <a:rPr sz="1350">
                <a:solidFill>
                  <a:srgbClr val="333333"/>
                </a:solidFill>
              </a:rPr>
              <a:t>12,9% de taux d'annulation contre ~0% ailleurs — signal fort d'un problème opérationnel local à corriger avant tout investissement marketing.</a:t>
            </a:r>
          </a:p>
          <a:p>
            <a:pPr>
              <a:spcAft>
                <a:spcPts val="1600"/>
              </a:spcAft>
            </a:pPr>
            <a:r>
              <a:rPr sz="1350" b="1">
                <a:solidFill>
                  <a:srgbClr val="C9971C"/>
                </a:solidFill>
              </a:rPr>
              <a:t>●  </a:t>
            </a:r>
            <a:r>
              <a:rPr sz="1350" b="1">
                <a:solidFill>
                  <a:srgbClr val="152A4A"/>
                </a:solidFill>
              </a:rPr>
              <a:t>Marchés secondaires — </a:t>
            </a:r>
            <a:r>
              <a:rPr sz="1350">
                <a:solidFill>
                  <a:srgbClr val="333333"/>
                </a:solidFill>
              </a:rPr>
              <a:t>Libreville, Brazzaville, Cotonou : potentiel de croissance à faible risque une fois Douala assaini.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C468"/>
                </a:solidFill>
                <a:latin typeface="Calibri"/>
              </a:rPr>
              <a:t>06 · ANALYSE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Quel canal mérite plus de budget ?</a:t>
            </a:r>
          </a:p>
        </p:txBody>
      </p: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18872"/>
            <a:ext cx="713232" cy="713232"/>
          </a:xfrm>
          <a:prstGeom prst="rect">
            <a:avLst/>
          </a:prstGeom>
        </p:spPr>
      </p:pic>
      <p:pic>
        <p:nvPicPr>
          <p:cNvPr id="7" name="Picture 6" descr="06_marke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50869"/>
            <a:ext cx="6949440" cy="248194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1371600"/>
          <a:ext cx="4160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Canal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ROI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217,0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Google Ads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47,1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Instagram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23,1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Influenceur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19,5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3657600"/>
            <a:ext cx="4160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3333"/>
                </a:solidFill>
                <a:latin typeface="Calibri"/>
              </a:rPr>
              <a:t>L'Email est massivement sous-exploité (ROI 217 pour un coût quasi nul). L'Influenceur, ROI le plus faible, doit être recadré ou réduit.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C468"/>
                </a:solidFill>
                <a:latin typeface="Calibri"/>
              </a:rPr>
              <a:t>07 · ANALYSE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Comment améliorer la rétention ?</a:t>
            </a:r>
          </a:p>
        </p:txBody>
      </p: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18872"/>
            <a:ext cx="713232" cy="713232"/>
          </a:xfrm>
          <a:prstGeom prst="rect">
            <a:avLst/>
          </a:prstGeom>
        </p:spPr>
      </p:pic>
      <p:pic>
        <p:nvPicPr>
          <p:cNvPr id="7" name="Picture 6" descr="07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576072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92240" y="13716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50800" cy="118872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9240" y="1463040"/>
            <a:ext cx="212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Calibri"/>
              </a:rPr>
              <a:t>CLIENTS ACTIFS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240" y="1755648"/>
            <a:ext cx="212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52A4A"/>
                </a:solidFill>
                <a:latin typeface="Calibri"/>
              </a:rPr>
              <a:t>1 747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3716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52560" y="1371600"/>
            <a:ext cx="50800" cy="118872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9560" y="1463040"/>
            <a:ext cx="212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Calibri"/>
              </a:rPr>
              <a:t>% RÉCURRENTS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9560" y="1755648"/>
            <a:ext cx="212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52A4A"/>
                </a:solidFill>
                <a:latin typeface="Calibri"/>
              </a:rPr>
              <a:t>74,0 %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834640"/>
            <a:ext cx="4937760" cy="10058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97180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A4A"/>
                </a:solidFill>
                <a:latin typeface="Calibri"/>
              </a:rPr>
              <a:t>31,5% des clients génèrent 80% du CA (Pareto)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148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C9971C"/>
                </a:solidFill>
              </a:rPr>
              <a:t>●  </a:t>
            </a:r>
            <a:r>
              <a:rPr sz="1300" b="1">
                <a:solidFill>
                  <a:srgbClr val="152A4A"/>
                </a:solidFill>
              </a:rPr>
              <a:t>Champions — </a:t>
            </a:r>
            <a:r>
              <a:rPr sz="1300">
                <a:solidFill>
                  <a:srgbClr val="333333"/>
                </a:solidFill>
              </a:rPr>
              <a:t>sécuriser en priorité (programme VIP).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971C"/>
                </a:solidFill>
              </a:rPr>
              <a:t>●  </a:t>
            </a:r>
            <a:r>
              <a:rPr sz="1300" b="1">
                <a:solidFill>
                  <a:srgbClr val="152A4A"/>
                </a:solidFill>
              </a:rPr>
              <a:t>Gros acheteurs occasionnels — </a:t>
            </a:r>
            <a:r>
              <a:rPr sz="1300">
                <a:solidFill>
                  <a:srgbClr val="333333"/>
                </a:solidFill>
              </a:rPr>
              <a:t>relancer pour augmenter la fréquence d'achat.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971C"/>
                </a:solidFill>
              </a:rPr>
              <a:t>●  </a:t>
            </a:r>
            <a:r>
              <a:rPr sz="1300" b="1">
                <a:solidFill>
                  <a:srgbClr val="152A4A"/>
                </a:solidFill>
              </a:rPr>
              <a:t>Clients à risque — </a:t>
            </a:r>
            <a:r>
              <a:rPr sz="1300">
                <a:solidFill>
                  <a:srgbClr val="333333"/>
                </a:solidFill>
              </a:rPr>
              <a:t>réactiver via des offres ciblées, à moindre coût.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C468"/>
                </a:solidFill>
                <a:latin typeface="Calibri"/>
              </a:rPr>
              <a:t>08 · IMPACT CHIFFRÉ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Simulation financière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887" y="1737360"/>
            <a:ext cx="3291840" cy="2468880"/>
          </a:xfrm>
          <a:prstGeom prst="rect">
            <a:avLst/>
          </a:prstGeom>
          <a:solidFill>
            <a:srgbClr val="1F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887" y="1737360"/>
            <a:ext cx="3291840" cy="508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767" y="196596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Réduire le retour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Électronique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767" y="27889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C9C9D6"/>
                </a:solidFill>
                <a:latin typeface="Calibri"/>
              </a:rPr>
              <a:t>15,3% → 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32918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8C468"/>
                </a:solidFill>
                <a:latin typeface="Calibri"/>
              </a:rPr>
              <a:t>+ 14 015 €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9927" y="1737360"/>
            <a:ext cx="3291840" cy="2468880"/>
          </a:xfrm>
          <a:prstGeom prst="rect">
            <a:avLst/>
          </a:prstGeom>
          <a:solidFill>
            <a:srgbClr val="1F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49927" y="1737360"/>
            <a:ext cx="3291840" cy="508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196596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Corriger l'anomalie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de Douala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27889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C9C9D6"/>
                </a:solidFill>
                <a:latin typeface="Calibri"/>
              </a:rPr>
              <a:t>12,9% → ~0%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807" y="32918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8C468"/>
                </a:solidFill>
                <a:latin typeface="Calibri"/>
              </a:rPr>
              <a:t>+ 16 299 €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8967" y="1737360"/>
            <a:ext cx="3291840" cy="2468880"/>
          </a:xfrm>
          <a:prstGeom prst="rect">
            <a:avLst/>
          </a:prstGeom>
          <a:solidFill>
            <a:srgbClr val="1F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8967" y="1737360"/>
            <a:ext cx="3291840" cy="508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1847" y="196596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Optimiser l'efficacité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Influenceur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27889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C9C9D6"/>
                </a:solidFill>
                <a:latin typeface="Calibri"/>
              </a:rPr>
              <a:t>aligné sur Google 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32918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8C468"/>
                </a:solidFill>
                <a:latin typeface="Calibri"/>
              </a:rPr>
              <a:t>+ 9 388 €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4617720"/>
            <a:ext cx="8531352" cy="118872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736592"/>
            <a:ext cx="8531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F1E35"/>
                </a:solidFill>
                <a:latin typeface="Calibri"/>
              </a:rPr>
              <a:t>IMPACT COMBINÉ ESTIMÉ : + 39 702 €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193792"/>
            <a:ext cx="85313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0F1E35"/>
                </a:solidFill>
                <a:latin typeface="Calibri"/>
              </a:rPr>
              <a:t>soit +10,4% de profit net — sans investissement supplémentaire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C468"/>
                </a:solidFill>
                <a:latin typeface="Calibri"/>
              </a:rPr>
              <a:t>09 · PLAN D'ACTION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5 recommandations stratégiques</a:t>
            </a:r>
          </a:p>
        </p:txBody>
      </p: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18872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307592"/>
            <a:ext cx="685800" cy="6858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07592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2618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52A4A"/>
                </a:solidFill>
                <a:latin typeface="Calibri"/>
              </a:rPr>
              <a:t>Réduire le retour Électronique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7335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Audit qualité fournisseur, fiches produit enrichies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33168"/>
            <a:ext cx="11155680" cy="12700"/>
          </a:xfrm>
          <a:prstGeom prst="rect">
            <a:avLst/>
          </a:prstGeom>
          <a:solidFill>
            <a:srgbClr val="E5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685800" cy="6858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2860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52A4A"/>
                </a:solidFill>
                <a:latin typeface="Calibri"/>
              </a:rPr>
              <a:t>Corriger l'anomalie de Douala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Investiguer paiement / livraison avant tout budget marketing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57296"/>
            <a:ext cx="11155680" cy="12700"/>
          </a:xfrm>
          <a:prstGeom prst="rect">
            <a:avLst/>
          </a:prstGeom>
          <a:solidFill>
            <a:srgbClr val="E5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355848"/>
            <a:ext cx="685800" cy="6858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355848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101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52A4A"/>
                </a:solidFill>
                <a:latin typeface="Calibri"/>
              </a:rPr>
              <a:t>Réallouer le budget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72160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Renforcer Email &amp; Google Ads, recadrer l'Influenceur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81424"/>
            <a:ext cx="11155680" cy="12700"/>
          </a:xfrm>
          <a:prstGeom prst="rect">
            <a:avLst/>
          </a:prstGeom>
          <a:solidFill>
            <a:srgbClr val="E5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379976"/>
            <a:ext cx="685800" cy="6858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79976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3425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52A4A"/>
                </a:solidFill>
                <a:latin typeface="Calibri"/>
              </a:rPr>
              <a:t>Programme de fidélisation Champions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4573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Traitement VIP pour le noyau à 80% du 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05552"/>
            <a:ext cx="11155680" cy="12700"/>
          </a:xfrm>
          <a:prstGeom prst="rect">
            <a:avLst/>
          </a:prstGeom>
          <a:solidFill>
            <a:srgbClr val="E5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404104"/>
            <a:ext cx="685800" cy="6858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04104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358384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52A4A"/>
                </a:solidFill>
                <a:latin typeface="Calibri"/>
              </a:rPr>
              <a:t>Industrialiser la qualité de saisie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769864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Contrôles de validation à la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C468"/>
                </a:solidFill>
                <a:latin typeface="Calibri"/>
              </a:rPr>
              <a:t>10 · AIDE À LA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Priorisation : impact vs effort</a:t>
            </a:r>
          </a:p>
        </p:txBody>
      </p: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18872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63040" y="1371600"/>
            <a:ext cx="3886200" cy="2423160"/>
          </a:xfrm>
          <a:prstGeom prst="rect">
            <a:avLst/>
          </a:prstGeom>
          <a:solidFill>
            <a:srgbClr val="E9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9240" y="1371600"/>
            <a:ext cx="3886200" cy="2423160"/>
          </a:xfrm>
          <a:prstGeom prst="rect">
            <a:avLst/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3794760"/>
            <a:ext cx="3886200" cy="2423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49240" y="3794760"/>
            <a:ext cx="3886200" cy="2423160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1371600"/>
            <a:ext cx="19050" cy="484632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1371600"/>
            <a:ext cx="19050" cy="484632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19050" cy="484632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0" y="1371600"/>
            <a:ext cx="7772400" cy="1905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63040" y="3794760"/>
            <a:ext cx="7772400" cy="1905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6217920"/>
            <a:ext cx="7772400" cy="1905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987552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52A4A"/>
                </a:solidFill>
                <a:latin typeface="Calibri"/>
              </a:rPr>
              <a:t>IMPACT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" y="36118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52A4A"/>
                </a:solidFill>
                <a:latin typeface="Calibri"/>
              </a:rPr>
              <a:t>EFFORT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6263640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Calibri"/>
              </a:rPr>
              <a:t>Impact modéré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6263640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Calibri"/>
              </a:rPr>
              <a:t>Impact élevé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" y="32918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Calibri"/>
              </a:rPr>
              <a:t>Effort élevé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" y="1600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Calibri"/>
              </a:rPr>
              <a:t>Effort faible</a:t>
            </a:r>
          </a:p>
        </p:txBody>
      </p:sp>
      <p:sp>
        <p:nvSpPr>
          <p:cNvPr id="23" name="Oval 22"/>
          <p:cNvSpPr/>
          <p:nvPr/>
        </p:nvSpPr>
        <p:spPr>
          <a:xfrm>
            <a:off x="2423160" y="2049170"/>
            <a:ext cx="1188720" cy="777240"/>
          </a:xfrm>
          <a:prstGeom prst="ellipse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R2
Douala</a:t>
            </a:r>
          </a:p>
        </p:txBody>
      </p:sp>
      <p:sp>
        <p:nvSpPr>
          <p:cNvPr id="24" name="Oval 23"/>
          <p:cNvSpPr/>
          <p:nvPr/>
        </p:nvSpPr>
        <p:spPr>
          <a:xfrm>
            <a:off x="6464808" y="2339949"/>
            <a:ext cx="1188720" cy="777240"/>
          </a:xfrm>
          <a:prstGeom prst="ellipse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R3
Marketing</a:t>
            </a:r>
          </a:p>
        </p:txBody>
      </p:sp>
      <p:sp>
        <p:nvSpPr>
          <p:cNvPr id="25" name="Oval 24"/>
          <p:cNvSpPr/>
          <p:nvPr/>
        </p:nvSpPr>
        <p:spPr>
          <a:xfrm>
            <a:off x="7242048" y="4133088"/>
            <a:ext cx="1188720" cy="777240"/>
          </a:xfrm>
          <a:prstGeom prst="ellipse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R1
Retours
Électr.</a:t>
            </a:r>
          </a:p>
        </p:txBody>
      </p:sp>
      <p:sp>
        <p:nvSpPr>
          <p:cNvPr id="26" name="Oval 25"/>
          <p:cNvSpPr/>
          <p:nvPr/>
        </p:nvSpPr>
        <p:spPr>
          <a:xfrm>
            <a:off x="6153912" y="4472330"/>
            <a:ext cx="1188720" cy="777240"/>
          </a:xfrm>
          <a:prstGeom prst="ellipse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R4
Fidélisa-
tion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0" y="4278477"/>
            <a:ext cx="1188720" cy="777240"/>
          </a:xfrm>
          <a:prstGeom prst="ellipse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R5
Qualité
saisie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1554480"/>
            <a:ext cx="22860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Calibri"/>
              </a:rPr>
              <a:t>Lecture :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Calibri"/>
              </a:rPr>
              <a:t>R2 et R3 sont des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Calibri"/>
              </a:rPr>
              <a:t>quick wins immédiats.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Calibri"/>
              </a:rPr>
              <a:t>R1 et R4 demandent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Calibri"/>
              </a:rPr>
              <a:t>plus d'effort mais le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Calibri"/>
              </a:rPr>
              <a:t>retour est le plus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Calibri"/>
              </a:rPr>
              <a:t>élevé.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Calibri"/>
              </a:rPr>
              <a:t>R5 est structurant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Calibri"/>
              </a:rPr>
              <a:t>sur le moyen terme.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C468"/>
                </a:solidFill>
                <a:latin typeface="Calibri"/>
              </a:rPr>
              <a:t>11 · MISE EN ŒUVRE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Feuille de route à 90 jours</a:t>
            </a:r>
          </a:p>
        </p:txBody>
      </p: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18872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9427" y="1371600"/>
            <a:ext cx="3611880" cy="68580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1444752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8C468"/>
                </a:solidFill>
                <a:latin typeface="Calibri"/>
              </a:rPr>
              <a:t>30 JOURS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1719072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Quick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" y="2148840"/>
            <a:ext cx="3611880" cy="32918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027" y="2377440"/>
            <a:ext cx="3154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C9971C"/>
                </a:solidFill>
              </a:rPr>
              <a:t>●  </a:t>
            </a:r>
            <a:r>
              <a:rPr sz="1300">
                <a:solidFill>
                  <a:srgbClr val="333333"/>
                </a:solidFill>
              </a:rPr>
              <a:t>Investigation opérationnelle à Douala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C9971C"/>
                </a:solidFill>
              </a:rPr>
              <a:t>●  </a:t>
            </a:r>
            <a:r>
              <a:rPr sz="1300">
                <a:solidFill>
                  <a:srgbClr val="333333"/>
                </a:solidFill>
              </a:rPr>
              <a:t>Recadrage du ciblage Influenceur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C9971C"/>
                </a:solidFill>
              </a:rPr>
              <a:t>●  </a:t>
            </a:r>
            <a:r>
              <a:rPr sz="1300">
                <a:solidFill>
                  <a:srgbClr val="333333"/>
                </a:solidFill>
              </a:rPr>
              <a:t>Lancement de l'audit qualité Électronique</a:t>
            </a:r>
          </a:p>
        </p:txBody>
      </p:sp>
      <p:sp>
        <p:nvSpPr>
          <p:cNvPr id="12" name="Chevron 11"/>
          <p:cNvSpPr/>
          <p:nvPr/>
        </p:nvSpPr>
        <p:spPr>
          <a:xfrm>
            <a:off x="4074007" y="3566160"/>
            <a:ext cx="203200" cy="365760"/>
          </a:xfrm>
          <a:prstGeom prst="chevron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9907" y="1371600"/>
            <a:ext cx="3611880" cy="68580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9907" y="1444752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8C468"/>
                </a:solidFill>
                <a:latin typeface="Calibri"/>
              </a:rPr>
              <a:t>60 JOURS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9907" y="1719072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Consolidation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9907" y="2148840"/>
            <a:ext cx="3611880" cy="32918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8507" y="2377440"/>
            <a:ext cx="3154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C9971C"/>
                </a:solidFill>
              </a:rPr>
              <a:t>●  </a:t>
            </a:r>
            <a:r>
              <a:rPr sz="1300">
                <a:solidFill>
                  <a:srgbClr val="333333"/>
                </a:solidFill>
              </a:rPr>
              <a:t>Plan d'action fournisseur Électronique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C9971C"/>
                </a:solidFill>
              </a:rPr>
              <a:t>●  </a:t>
            </a:r>
            <a:r>
              <a:rPr sz="1300">
                <a:solidFill>
                  <a:srgbClr val="333333"/>
                </a:solidFill>
              </a:rPr>
              <a:t>Réallocation budgétaire Email / Google Ads</a:t>
            </a:r>
          </a:p>
        </p:txBody>
      </p:sp>
      <p:sp>
        <p:nvSpPr>
          <p:cNvPr id="18" name="Chevron 17"/>
          <p:cNvSpPr/>
          <p:nvPr/>
        </p:nvSpPr>
        <p:spPr>
          <a:xfrm>
            <a:off x="7914487" y="3566160"/>
            <a:ext cx="203200" cy="365760"/>
          </a:xfrm>
          <a:prstGeom prst="chevron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0387" y="1371600"/>
            <a:ext cx="3611880" cy="68580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0387" y="1444752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8C468"/>
                </a:solidFill>
                <a:latin typeface="Calibri"/>
              </a:rPr>
              <a:t>90 JOURS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0387" y="1719072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Structuration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0387" y="2148840"/>
            <a:ext cx="3611880" cy="32918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8987" y="2377440"/>
            <a:ext cx="3154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C9971C"/>
                </a:solidFill>
              </a:rPr>
              <a:t>●  </a:t>
            </a:r>
            <a:r>
              <a:rPr sz="1300">
                <a:solidFill>
                  <a:srgbClr val="333333"/>
                </a:solidFill>
              </a:rPr>
              <a:t>Programme de fidélisation « Champions »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C9971C"/>
                </a:solidFill>
              </a:rPr>
              <a:t>●  </a:t>
            </a:r>
            <a:r>
              <a:rPr sz="1300">
                <a:solidFill>
                  <a:srgbClr val="333333"/>
                </a:solidFill>
              </a:rPr>
              <a:t>Contrôles de validation de la saisie des commandes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8C468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Transformer la croissance du CA en croissance du profit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691640"/>
            <a:ext cx="3200400" cy="38100"/>
          </a:xfrm>
          <a:prstGeom prst="rect">
            <a:avLst/>
          </a:prstGeom>
          <a:solidFill>
            <a:srgbClr val="C99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4183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E6E6EE"/>
                </a:solidFill>
                <a:latin typeface="Calibri"/>
              </a:rPr>
              <a:t>AfriMarket dispose d'un moteur de croissance clair — l'Électronique et les marchés de Kinshasa et Abidjan. Trois fuites de rentabilité précises et actionnables freinent aujourd'hui sa performance : le taux de retour Électronique, l'allocation marketing sous-optimale, et l'anomalie opérationnelle de Douala.</a:t>
            </a:r>
          </a:p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E6E6EE"/>
                </a:solidFill>
                <a:latin typeface="Calibri"/>
              </a:rPr>
              <a:t/>
            </a:r>
          </a:p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E6E6EE"/>
                </a:solidFill>
                <a:latin typeface="Calibri"/>
              </a:rPr>
              <a:t>Les corriger représente un gain de profit net estimé à +10,4%, sans investissement supplémentaire — un socle de décisions immédiates, mesurables et suivies via le dashboard interactif livré avec cette analyse.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5A5A"/>
                </a:solidFill>
                <a:latin typeface="Calibri"/>
              </a:rPr>
              <a:t>AfriMarket — Analyse Stratégique 2025 ·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6539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286000"/>
            <a:ext cx="3736715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52A4A"/>
                </a:solidFill>
                <a:latin typeface="Calibri"/>
              </a:rP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26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A5A5A"/>
                </a:solidFill>
                <a:latin typeface="Calibri"/>
              </a:rPr>
              <a:t>Questions &amp; discussion  ·  Dashboard interactif disponible sur demande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